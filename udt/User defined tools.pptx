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Source Code Pro Light"/>
      <p:regular r:id="rId29"/>
      <p:bold r:id="rId30"/>
      <p:italic r:id="rId31"/>
      <p:boldItalic r:id="rId32"/>
    </p:embeddedFont>
    <p:embeddedFont>
      <p:font typeface="Atkinson Hyperlegible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ourceCodeProLigh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urceCodeProLight-italic.fntdata"/><Relationship Id="rId30" Type="http://schemas.openxmlformats.org/officeDocument/2006/relationships/font" Target="fonts/SourceCodeProLight-bold.fntdata"/><Relationship Id="rId11" Type="http://schemas.openxmlformats.org/officeDocument/2006/relationships/slide" Target="slides/slide6.xml"/><Relationship Id="rId33" Type="http://schemas.openxmlformats.org/officeDocument/2006/relationships/font" Target="fonts/AtkinsonHyperlegible-regular.fntdata"/><Relationship Id="rId10" Type="http://schemas.openxmlformats.org/officeDocument/2006/relationships/slide" Target="slides/slide5.xml"/><Relationship Id="rId32" Type="http://schemas.openxmlformats.org/officeDocument/2006/relationships/font" Target="fonts/SourceCodeProLight-boldItalic.fntdata"/><Relationship Id="rId13" Type="http://schemas.openxmlformats.org/officeDocument/2006/relationships/slide" Target="slides/slide8.xml"/><Relationship Id="rId35" Type="http://schemas.openxmlformats.org/officeDocument/2006/relationships/font" Target="fonts/AtkinsonHyperlegible-italic.fntdata"/><Relationship Id="rId12" Type="http://schemas.openxmlformats.org/officeDocument/2006/relationships/slide" Target="slides/slide7.xml"/><Relationship Id="rId34" Type="http://schemas.openxmlformats.org/officeDocument/2006/relationships/font" Target="fonts/AtkinsonHyperlegible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AtkinsonHyperlegible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ab1163a50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ab1163a50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d3d84433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d3d84433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d3d84433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d3d84433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d3d84433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3d3d84433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d3d84433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3d3d84433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64648"/>
              </a:buClr>
              <a:buSzPts val="1800"/>
              <a:buChar char="●"/>
            </a:pPr>
            <a:r>
              <a:rPr lang="en" sz="1800">
                <a:solidFill>
                  <a:srgbClr val="464648"/>
                </a:solidFill>
              </a:rPr>
              <a:t>Galaxy (XML) tool language is very open</a:t>
            </a:r>
            <a:endParaRPr sz="1800">
              <a:solidFill>
                <a:srgbClr val="464648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64648"/>
              </a:buClr>
              <a:buSzPts val="1800"/>
              <a:buChar char="●"/>
            </a:pPr>
            <a:r>
              <a:rPr lang="en" sz="1800">
                <a:solidFill>
                  <a:srgbClr val="464648"/>
                </a:solidFill>
              </a:rPr>
              <a:t>Requires review from experts to ensure cannot be exploited</a:t>
            </a:r>
            <a:endParaRPr sz="1800">
              <a:solidFill>
                <a:srgbClr val="464648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64648"/>
              </a:buClr>
              <a:buSzPts val="1800"/>
              <a:buChar char="●"/>
            </a:pPr>
            <a:r>
              <a:rPr lang="en" sz="1800">
                <a:solidFill>
                  <a:srgbClr val="464648"/>
                </a:solidFill>
              </a:rPr>
              <a:t>Review and feedback process can be lengthy</a:t>
            </a:r>
            <a:endParaRPr sz="1800">
              <a:solidFill>
                <a:srgbClr val="464648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64648"/>
              </a:buClr>
              <a:buSzPts val="1800"/>
              <a:buChar char="●"/>
            </a:pPr>
            <a:r>
              <a:rPr lang="en" sz="1800">
                <a:solidFill>
                  <a:srgbClr val="464648"/>
                </a:solidFill>
              </a:rPr>
              <a:t>Often it isn’t (immediately) clear what is a problem</a:t>
            </a:r>
            <a:endParaRPr sz="1800">
              <a:solidFill>
                <a:srgbClr val="464648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64648"/>
              </a:buClr>
              <a:buSzPts val="1800"/>
              <a:buChar char="●"/>
            </a:pPr>
            <a:r>
              <a:rPr lang="en" sz="1800">
                <a:solidFill>
                  <a:srgbClr val="464648"/>
                </a:solidFill>
              </a:rPr>
              <a:t>Extensive documentation and XML schema, but still no formal guarantees of correctness</a:t>
            </a:r>
            <a:endParaRPr sz="1800">
              <a:solidFill>
                <a:srgbClr val="46464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ab1163a50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ab1163a50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ab1163a50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ab1163a50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ab1163a50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ab1163a50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3d3d84433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3d3d84433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3d3d84433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3d3d84433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3d3d84433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3d3d84433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3d3d84433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3d3d84433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3d3d844334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3d3d84433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4655f60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4655f60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3d3d844334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3d3d844334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d3d844334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3d3d844334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3d3d844334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3d3d84433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3d3d844334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3d3d844334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3d3d844334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3d3d844334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3d3d844334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3d3d844334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3d3d844334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3d3d844334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ab1163a50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6ab1163a50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2434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tkinson Hyperlegible"/>
              <a:buNone/>
              <a:defRPr sz="4000">
                <a:solidFill>
                  <a:schemeClr val="lt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tkinson Hyperlegible"/>
              <a:buNone/>
              <a:defRPr sz="2800">
                <a:solidFill>
                  <a:schemeClr val="lt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/>
          <p:nvPr/>
        </p:nvSpPr>
        <p:spPr>
          <a:xfrm flipH="1" rot="5400000">
            <a:off x="7413000" y="3412600"/>
            <a:ext cx="1731000" cy="1731000"/>
          </a:xfrm>
          <a:prstGeom prst="halfFrame">
            <a:avLst>
              <a:gd fmla="val 0" name="adj1"/>
              <a:gd fmla="val 32478" name="adj2"/>
            </a:avLst>
          </a:prstGeom>
          <a:solidFill>
            <a:srgbClr val="2124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8978" y="4700519"/>
            <a:ext cx="1207056" cy="42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 flipH="1" rot="5400000">
            <a:off x="7413000" y="3412600"/>
            <a:ext cx="1731000" cy="1731000"/>
          </a:xfrm>
          <a:prstGeom prst="halfFrame">
            <a:avLst>
              <a:gd fmla="val 0" name="adj1"/>
              <a:gd fmla="val 31704" name="adj2"/>
            </a:avLst>
          </a:prstGeom>
          <a:solidFill>
            <a:srgbClr val="2124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"/>
          <p:cNvSpPr txBox="1"/>
          <p:nvPr>
            <p:ph type="title"/>
          </p:nvPr>
        </p:nvSpPr>
        <p:spPr>
          <a:xfrm>
            <a:off x="95995" y="90525"/>
            <a:ext cx="895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91440" y="663225"/>
            <a:ext cx="8952000" cy="39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19" name="Google Shape;1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8978" y="4700519"/>
            <a:ext cx="1207056" cy="42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 flipH="1" rot="5400000">
            <a:off x="7413000" y="3412600"/>
            <a:ext cx="1731000" cy="1731000"/>
          </a:xfrm>
          <a:prstGeom prst="halfFrame">
            <a:avLst>
              <a:gd fmla="val 0" name="adj1"/>
              <a:gd fmla="val 31704" name="adj2"/>
            </a:avLst>
          </a:prstGeom>
          <a:solidFill>
            <a:srgbClr val="2124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5"/>
          <p:cNvSpPr txBox="1"/>
          <p:nvPr>
            <p:ph type="title"/>
          </p:nvPr>
        </p:nvSpPr>
        <p:spPr>
          <a:xfrm>
            <a:off x="91440" y="91440"/>
            <a:ext cx="895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91450" y="664150"/>
            <a:ext cx="4297800" cy="39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572000" y="664150"/>
            <a:ext cx="4297800" cy="39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25" name="Google Shape;2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8978" y="4700519"/>
            <a:ext cx="1207056" cy="42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 flipH="1" rot="5400000">
            <a:off x="7413000" y="3412600"/>
            <a:ext cx="1731000" cy="1731000"/>
          </a:xfrm>
          <a:prstGeom prst="halfFrame">
            <a:avLst>
              <a:gd fmla="val 0" name="adj1"/>
              <a:gd fmla="val 31704" name="adj2"/>
            </a:avLst>
          </a:prstGeom>
          <a:solidFill>
            <a:srgbClr val="2124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 txBox="1"/>
          <p:nvPr>
            <p:ph type="title"/>
          </p:nvPr>
        </p:nvSpPr>
        <p:spPr>
          <a:xfrm>
            <a:off x="91440" y="91440"/>
            <a:ext cx="895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9" name="Google Shape;2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8978" y="4700519"/>
            <a:ext cx="1207056" cy="42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 flipH="1" rot="5400000">
            <a:off x="7413000" y="3412600"/>
            <a:ext cx="1731000" cy="1731000"/>
          </a:xfrm>
          <a:prstGeom prst="halfFrame">
            <a:avLst>
              <a:gd fmla="val 0" name="adj1"/>
              <a:gd fmla="val 31704" name="adj2"/>
            </a:avLst>
          </a:prstGeom>
          <a:solidFill>
            <a:srgbClr val="2124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9144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91440" y="13113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34" name="Google Shape;3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8978" y="4700519"/>
            <a:ext cx="1207056" cy="42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 flipH="1" rot="5400000">
            <a:off x="7413000" y="3412600"/>
            <a:ext cx="1731000" cy="1731000"/>
          </a:xfrm>
          <a:prstGeom prst="halfFrame">
            <a:avLst>
              <a:gd fmla="val 0" name="adj1"/>
              <a:gd fmla="val 31704" name="adj2"/>
            </a:avLst>
          </a:prstGeom>
          <a:solidFill>
            <a:srgbClr val="2124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38" name="Google Shape;3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8978" y="4700519"/>
            <a:ext cx="1207056" cy="42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/>
          <p:nvPr/>
        </p:nvSpPr>
        <p:spPr>
          <a:xfrm flipH="1" rot="5400000">
            <a:off x="7413000" y="3412600"/>
            <a:ext cx="1731000" cy="1731000"/>
          </a:xfrm>
          <a:prstGeom prst="halfFrame">
            <a:avLst>
              <a:gd fmla="val 0" name="adj1"/>
              <a:gd fmla="val 31704" name="adj2"/>
            </a:avLst>
          </a:prstGeom>
          <a:solidFill>
            <a:srgbClr val="2124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45" name="Google Shape;4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8978" y="4700519"/>
            <a:ext cx="1207056" cy="42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/>
          <p:nvPr/>
        </p:nvSpPr>
        <p:spPr>
          <a:xfrm flipH="1" rot="5400000">
            <a:off x="7413000" y="3412600"/>
            <a:ext cx="1731000" cy="1731000"/>
          </a:xfrm>
          <a:prstGeom prst="halfFrame">
            <a:avLst>
              <a:gd fmla="val 0" name="adj1"/>
              <a:gd fmla="val 31704" name="adj2"/>
            </a:avLst>
          </a:prstGeom>
          <a:solidFill>
            <a:srgbClr val="2124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pic>
        <p:nvPicPr>
          <p:cNvPr id="49" name="Google Shape;4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8978" y="4700519"/>
            <a:ext cx="1207056" cy="42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/>
          <p:nvPr/>
        </p:nvSpPr>
        <p:spPr>
          <a:xfrm flipH="1" rot="5400000">
            <a:off x="7413000" y="3412600"/>
            <a:ext cx="1731000" cy="1731000"/>
          </a:xfrm>
          <a:prstGeom prst="halfFrame">
            <a:avLst>
              <a:gd fmla="val 0" name="adj1"/>
              <a:gd fmla="val 31704" name="adj2"/>
            </a:avLst>
          </a:prstGeom>
          <a:solidFill>
            <a:srgbClr val="2124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54" name="Google Shape;54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8978" y="4700519"/>
            <a:ext cx="1207056" cy="42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1475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tkinson Hyperlegible"/>
              <a:buNone/>
              <a:defRPr b="1" sz="2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  <a:defRPr sz="2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  <a:defRPr sz="2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  <a:defRPr sz="2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  <a:defRPr sz="2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  <a:defRPr sz="2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  <a:defRPr sz="2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  <a:defRPr sz="2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None/>
              <a:defRPr sz="2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18550"/>
            <a:ext cx="8520600" cy="38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tkinson Hyperlegible"/>
              <a:buChar char="●"/>
              <a:defRPr sz="18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tkinson Hyperlegible"/>
              <a:buChar char="○"/>
              <a:defRPr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tkinson Hyperlegible"/>
              <a:buChar char="■"/>
              <a:defRPr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tkinson Hyperlegible"/>
              <a:buChar char="●"/>
              <a:defRPr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tkinson Hyperlegible"/>
              <a:buChar char="○"/>
              <a:defRPr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tkinson Hyperlegible"/>
              <a:buChar char="■"/>
              <a:defRPr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tkinson Hyperlegible"/>
              <a:buChar char="●"/>
              <a:defRPr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tkinson Hyperlegible"/>
              <a:buChar char="○"/>
              <a:defRPr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tkinson Hyperlegible"/>
              <a:buChar char="■"/>
              <a:defRPr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marius@galaxyproject.or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ctrTitle"/>
          </p:nvPr>
        </p:nvSpPr>
        <p:spPr>
          <a:xfrm>
            <a:off x="311700" y="744575"/>
            <a:ext cx="8520600" cy="93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Galaxy Tools 2.0</a:t>
            </a:r>
            <a:endParaRPr/>
          </a:p>
        </p:txBody>
      </p:sp>
      <p:sp>
        <p:nvSpPr>
          <p:cNvPr id="61" name="Google Shape;61;p13"/>
          <p:cNvSpPr txBox="1"/>
          <p:nvPr>
            <p:ph idx="1" type="subTitle"/>
          </p:nvPr>
        </p:nvSpPr>
        <p:spPr>
          <a:xfrm>
            <a:off x="311700" y="18378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Bring your own!</a:t>
            </a:r>
            <a:endParaRPr/>
          </a:p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4194200" y="4041975"/>
            <a:ext cx="47904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Marius van den Beek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PSU / SCI-SCALE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marius@galaxyproject.org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ctrTitle"/>
          </p:nvPr>
        </p:nvSpPr>
        <p:spPr>
          <a:xfrm>
            <a:off x="311700" y="744575"/>
            <a:ext cx="8520600" cy="93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can’t users install tools ?</a:t>
            </a:r>
            <a:endParaRPr/>
          </a:p>
        </p:txBody>
      </p:sp>
      <p:sp>
        <p:nvSpPr>
          <p:cNvPr id="68" name="Google Shape;68;p14"/>
          <p:cNvSpPr txBox="1"/>
          <p:nvPr>
            <p:ph idx="1" type="subTitle"/>
          </p:nvPr>
        </p:nvSpPr>
        <p:spPr>
          <a:xfrm>
            <a:off x="311700" y="1837850"/>
            <a:ext cx="8520600" cy="20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We don’t want to limit what you can do!</a:t>
            </a:r>
            <a:endParaRPr/>
          </a:p>
          <a:p>
            <a:pPr indent="-3930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 need “xyz” and it’s not on the server I use, help please?</a:t>
            </a:r>
            <a:endParaRPr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You can already run code with RStudio and Jupyter*</a:t>
            </a:r>
            <a:endParaRPr/>
          </a:p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We can isolate storage and compute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ctrTitle"/>
          </p:nvPr>
        </p:nvSpPr>
        <p:spPr>
          <a:xfrm>
            <a:off x="311700" y="744575"/>
            <a:ext cx="8520600" cy="93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can’t users install tools 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 title="Screenshot 2025-06-24 at 00.57.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3088" y="1103325"/>
            <a:ext cx="6397830" cy="393177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/>
          <p:nvPr/>
        </p:nvSpPr>
        <p:spPr>
          <a:xfrm>
            <a:off x="1615250" y="2600400"/>
            <a:ext cx="2140500" cy="552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sp>
        <p:nvSpPr>
          <p:cNvPr id="80" name="Google Shape;80;p16"/>
          <p:cNvSpPr txBox="1"/>
          <p:nvPr>
            <p:ph type="ctrTitle"/>
          </p:nvPr>
        </p:nvSpPr>
        <p:spPr>
          <a:xfrm>
            <a:off x="311700" y="167025"/>
            <a:ext cx="8520600" cy="93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Templating with Cheetah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 title="Screenshot 2025-06-24 at 01.02.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882700"/>
            <a:ext cx="8229600" cy="18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>
            <p:ph type="ctrTitle"/>
          </p:nvPr>
        </p:nvSpPr>
        <p:spPr>
          <a:xfrm>
            <a:off x="311700" y="167025"/>
            <a:ext cx="8520600" cy="93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Templating with Cheetah </a:t>
            </a:r>
            <a:r>
              <a:rPr lang="en"/>
              <a:t>🎃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ctrTitle"/>
          </p:nvPr>
        </p:nvSpPr>
        <p:spPr>
          <a:xfrm>
            <a:off x="311700" y="167025"/>
            <a:ext cx="8520600" cy="93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manage 1000s of tools ?</a:t>
            </a:r>
            <a:endParaRPr/>
          </a:p>
        </p:txBody>
      </p:sp>
      <p:pic>
        <p:nvPicPr>
          <p:cNvPr id="92" name="Google Shape;92;p18" title="Screenshot 2025-06-24 at 07.16.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288" y="1255725"/>
            <a:ext cx="6725437" cy="3735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ctrTitle"/>
          </p:nvPr>
        </p:nvSpPr>
        <p:spPr>
          <a:xfrm>
            <a:off x="311700" y="167025"/>
            <a:ext cx="8520600" cy="93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has to be a better way!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0" title="Screenshot 2025-06-24 at 01.13.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0399" y="960900"/>
            <a:ext cx="6555899" cy="376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/>
          <p:nvPr/>
        </p:nvSpPr>
        <p:spPr>
          <a:xfrm>
            <a:off x="2043342" y="2601079"/>
            <a:ext cx="4114200" cy="175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4" name="Google Shape;104;p20"/>
          <p:cNvSpPr txBox="1"/>
          <p:nvPr>
            <p:ph type="ctrTitle"/>
          </p:nvPr>
        </p:nvSpPr>
        <p:spPr>
          <a:xfrm>
            <a:off x="311700" y="167025"/>
            <a:ext cx="8520600" cy="93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expressions &amp; JSON inputs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ctrTitle"/>
          </p:nvPr>
        </p:nvSpPr>
        <p:spPr>
          <a:xfrm>
            <a:off x="311700" y="167025"/>
            <a:ext cx="8520600" cy="93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expressions &amp; JSON inputs</a:t>
            </a:r>
            <a:endParaRPr/>
          </a:p>
        </p:txBody>
      </p:sp>
      <p:pic>
        <p:nvPicPr>
          <p:cNvPr id="110" name="Google Shape;110;p21" title="Screenshot 2025-06-24 at 09.35.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5950" y="1529625"/>
            <a:ext cx="3861465" cy="286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 title="Screenshot 2025-06-24 at 01.13.5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250" y="1529625"/>
            <a:ext cx="4991549" cy="28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2" title="Screenshot 2025-06-24 at 01.16.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0863" y="1113300"/>
            <a:ext cx="7042267" cy="38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 txBox="1"/>
          <p:nvPr>
            <p:ph type="ctrTitle"/>
          </p:nvPr>
        </p:nvSpPr>
        <p:spPr>
          <a:xfrm>
            <a:off x="311700" y="167025"/>
            <a:ext cx="8520600" cy="93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expressions &amp; JSON inputs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3" title="Screenshot 2025-06-24 at 01.16.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0863" y="1113300"/>
            <a:ext cx="7042267" cy="38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3"/>
          <p:cNvSpPr txBox="1"/>
          <p:nvPr>
            <p:ph type="ctrTitle"/>
          </p:nvPr>
        </p:nvSpPr>
        <p:spPr>
          <a:xfrm>
            <a:off x="311700" y="167025"/>
            <a:ext cx="8520600" cy="93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expressions &amp; JSON inputs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4" title="Screenshot 2025-06-24 at 01.17.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13300"/>
            <a:ext cx="8138025" cy="38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4"/>
          <p:cNvSpPr txBox="1"/>
          <p:nvPr>
            <p:ph type="ctrTitle"/>
          </p:nvPr>
        </p:nvSpPr>
        <p:spPr>
          <a:xfrm>
            <a:off x="311700" y="167025"/>
            <a:ext cx="8520600" cy="93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Monaco + YAML schemas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5" title="Screenshot 2025-06-24 at 01.18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850" y="1113300"/>
            <a:ext cx="8584190" cy="38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>
            <p:ph type="ctrTitle"/>
          </p:nvPr>
        </p:nvSpPr>
        <p:spPr>
          <a:xfrm>
            <a:off x="311700" y="167025"/>
            <a:ext cx="8520600" cy="93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Monaco + Typescript interfaces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/>
        </p:nvSpPr>
        <p:spPr>
          <a:xfrm>
            <a:off x="520900" y="1325725"/>
            <a:ext cx="84357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FFFFFF"/>
                </a:solidFill>
              </a:rPr>
              <a:t>Tool parameters are modeled as Pydantic models</a:t>
            </a:r>
            <a:endParaRPr sz="1800">
              <a:solidFill>
                <a:srgbClr val="FFFFFF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</a:pPr>
            <a:r>
              <a:rPr lang="en" sz="1800">
                <a:solidFill>
                  <a:srgbClr val="FFFFFF"/>
                </a:solidFill>
              </a:rPr>
              <a:t>As a general schema that describes “A Galaxy Tool”</a:t>
            </a:r>
            <a:endParaRPr sz="1800">
              <a:solidFill>
                <a:srgbClr val="FFFFFF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</a:pPr>
            <a:r>
              <a:rPr lang="en" sz="1800">
                <a:solidFill>
                  <a:srgbClr val="FFFFFF"/>
                </a:solidFill>
              </a:rPr>
              <a:t>As a specialized schema for “This Galaxy Tools’ Potential Input Object”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FFFFFF"/>
                </a:solidFill>
              </a:rPr>
              <a:t>Pydantic models are transform to JSON schema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FFFFFF"/>
                </a:solidFill>
              </a:rPr>
              <a:t>JSON schema is transformed to typescript interface for runtime inputs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sz="1800">
                <a:solidFill>
                  <a:srgbClr val="FFFFFF"/>
                </a:solidFill>
              </a:rPr>
              <a:t>Monaco Editor renders tool source</a:t>
            </a:r>
            <a:endParaRPr sz="1800">
              <a:solidFill>
                <a:srgbClr val="FFFFFF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</a:pPr>
            <a:r>
              <a:rPr lang="en" sz="1800">
                <a:solidFill>
                  <a:srgbClr val="FFFFFF"/>
                </a:solidFill>
              </a:rPr>
              <a:t>Knows what to do with yaml schema for tool</a:t>
            </a:r>
            <a:endParaRPr sz="1800">
              <a:solidFill>
                <a:srgbClr val="FFFFFF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○"/>
            </a:pPr>
            <a:r>
              <a:rPr lang="en" sz="1800">
                <a:solidFill>
                  <a:srgbClr val="FFFFFF"/>
                </a:solidFill>
              </a:rPr>
              <a:t>Understands typescript interface and compares to code in javascript fragments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41" name="Google Shape;141;p26"/>
          <p:cNvSpPr txBox="1"/>
          <p:nvPr>
            <p:ph type="ctrTitle"/>
          </p:nvPr>
        </p:nvSpPr>
        <p:spPr>
          <a:xfrm>
            <a:off x="311700" y="167025"/>
            <a:ext cx="8520600" cy="93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Behind the scenes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ctrTitle"/>
          </p:nvPr>
        </p:nvSpPr>
        <p:spPr>
          <a:xfrm>
            <a:off x="311700" y="167025"/>
            <a:ext cx="8520600" cy="93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Behind the scenes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8" title="Screenshot 2025-06-24 at 01.29.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3750" y="1152750"/>
            <a:ext cx="6583608" cy="387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9" title="Screenshot 2025-06-24 at 01.29.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3750" y="1152750"/>
            <a:ext cx="6583608" cy="387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30" title="Screenshot 2025-06-24 at 01.30.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5474" y="758175"/>
            <a:ext cx="5166774" cy="428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1" title="Screenshot 2025-06-24 at 01.34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413" y="1409225"/>
            <a:ext cx="7877175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32" title="Screenshot 2025-06-24 at 01.35.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80725"/>
            <a:ext cx="8839200" cy="1582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33" title="Screenshot 2025-06-24 at 01.35.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80725"/>
            <a:ext cx="8839200" cy="1582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4" title="Screenshot 2025-06-24 at 01.35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13300"/>
            <a:ext cx="8839200" cy="3372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/>
          <p:nvPr/>
        </p:nvSpPr>
        <p:spPr>
          <a:xfrm>
            <a:off x="850275" y="1473700"/>
            <a:ext cx="568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7" name="Google Shape;187;p35"/>
          <p:cNvSpPr txBox="1"/>
          <p:nvPr>
            <p:ph type="ctrTitle"/>
          </p:nvPr>
        </p:nvSpPr>
        <p:spPr>
          <a:xfrm>
            <a:off x="311700" y="167025"/>
            <a:ext cx="8520600" cy="93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Coming to a server near you soon!</a:t>
            </a:r>
            <a:endParaRPr/>
          </a:p>
        </p:txBody>
      </p:sp>
      <p:sp>
        <p:nvSpPr>
          <p:cNvPr id="188" name="Google Shape;188;p35"/>
          <p:cNvSpPr txBox="1"/>
          <p:nvPr/>
        </p:nvSpPr>
        <p:spPr>
          <a:xfrm>
            <a:off x="5959475" y="1889300"/>
            <a:ext cx="2964600" cy="21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Special Thanks to</a:t>
            </a:r>
            <a:endParaRPr sz="2700">
              <a:solidFill>
                <a:srgbClr val="FFFFFF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FFFFFF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John Chilton</a:t>
            </a:r>
            <a:endParaRPr sz="2700">
              <a:solidFill>
                <a:srgbClr val="FFFFFF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Michael Crusoe</a:t>
            </a:r>
            <a:endParaRPr sz="2700">
              <a:solidFill>
                <a:srgbClr val="FFFFFF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rPr>
              <a:t>Nicola Soranzo</a:t>
            </a:r>
            <a:endParaRPr sz="2700">
              <a:solidFill>
                <a:srgbClr val="FFFFFF"/>
              </a:solidFill>
              <a:latin typeface="Atkinson Hyperlegible"/>
              <a:ea typeface="Atkinson Hyperlegible"/>
              <a:cs typeface="Atkinson Hyperlegible"/>
              <a:sym typeface="Atkinson Hyperlegible"/>
            </a:endParaRPr>
          </a:p>
        </p:txBody>
      </p:sp>
      <p:pic>
        <p:nvPicPr>
          <p:cNvPr id="189" name="Google Shape;189;p35" title="Screenshot 2025-06-24 at 09.09.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900" y="1473700"/>
            <a:ext cx="5446090" cy="290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laxy Project">
  <a:themeElements>
    <a:clrScheme name="Simple Light">
      <a:dk1>
        <a:srgbClr val="000000"/>
      </a:dk1>
      <a:lt1>
        <a:srgbClr val="FFFFFF"/>
      </a:lt1>
      <a:dk2>
        <a:srgbClr val="464648"/>
      </a:dk2>
      <a:lt2>
        <a:srgbClr val="EEEEEE"/>
      </a:lt2>
      <a:accent1>
        <a:srgbClr val="212434"/>
      </a:accent1>
      <a:accent2>
        <a:srgbClr val="C5B320"/>
      </a:accent2>
      <a:accent3>
        <a:srgbClr val="464648"/>
      </a:accent3>
      <a:accent4>
        <a:srgbClr val="DA850B"/>
      </a:accent4>
      <a:accent5>
        <a:srgbClr val="C6D8F1"/>
      </a:accent5>
      <a:accent6>
        <a:srgbClr val="EEFF41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